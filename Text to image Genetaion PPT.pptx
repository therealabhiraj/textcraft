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7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9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0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2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06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8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97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6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77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82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3673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61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75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4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0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620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851404" cy="68579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6371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4323588"/>
            <a:ext cx="1743075" cy="779145"/>
          </a:xfrm>
          <a:custGeom>
            <a:avLst/>
            <a:gdLst/>
            <a:ahLst/>
            <a:cxnLst/>
            <a:rect l="l" t="t" r="r" b="b"/>
            <a:pathLst>
              <a:path w="1743075" h="779145">
                <a:moveTo>
                  <a:pt x="1346200" y="0"/>
                </a:moveTo>
                <a:lnTo>
                  <a:pt x="0" y="0"/>
                </a:lnTo>
                <a:lnTo>
                  <a:pt x="0" y="778763"/>
                </a:lnTo>
                <a:lnTo>
                  <a:pt x="1346200" y="778763"/>
                </a:lnTo>
                <a:lnTo>
                  <a:pt x="1355891" y="777956"/>
                </a:lnTo>
                <a:lnTo>
                  <a:pt x="1363821" y="775827"/>
                </a:lnTo>
                <a:lnTo>
                  <a:pt x="1369988" y="772816"/>
                </a:lnTo>
                <a:lnTo>
                  <a:pt x="1374394" y="769366"/>
                </a:lnTo>
                <a:lnTo>
                  <a:pt x="1374394" y="764667"/>
                </a:lnTo>
                <a:lnTo>
                  <a:pt x="1379093" y="764667"/>
                </a:lnTo>
                <a:lnTo>
                  <a:pt x="1735582" y="408178"/>
                </a:lnTo>
                <a:lnTo>
                  <a:pt x="1740868" y="399587"/>
                </a:lnTo>
                <a:lnTo>
                  <a:pt x="1742630" y="388794"/>
                </a:lnTo>
                <a:lnTo>
                  <a:pt x="1740868" y="377120"/>
                </a:lnTo>
                <a:lnTo>
                  <a:pt x="1735582" y="365887"/>
                </a:lnTo>
                <a:lnTo>
                  <a:pt x="1379093" y="14097"/>
                </a:lnTo>
                <a:lnTo>
                  <a:pt x="1379093" y="9398"/>
                </a:lnTo>
                <a:lnTo>
                  <a:pt x="1374394" y="9398"/>
                </a:lnTo>
                <a:lnTo>
                  <a:pt x="1369988" y="5947"/>
                </a:lnTo>
                <a:lnTo>
                  <a:pt x="1363821" y="2936"/>
                </a:lnTo>
                <a:lnTo>
                  <a:pt x="1355891" y="807"/>
                </a:lnTo>
                <a:lnTo>
                  <a:pt x="1346200" y="0"/>
                </a:lnTo>
                <a:close/>
              </a:path>
            </a:pathLst>
          </a:custGeom>
          <a:solidFill>
            <a:srgbClr val="E78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6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>
                <a:latin typeface="Javanese Text"/>
                <a:cs typeface="Javanese Text"/>
              </a:rPr>
              <a:t>TEXT</a:t>
            </a:r>
            <a:r>
              <a:rPr sz="4400" spc="-225" dirty="0">
                <a:latin typeface="Javanese Text"/>
                <a:cs typeface="Javanese Text"/>
              </a:rPr>
              <a:t> </a:t>
            </a:r>
            <a:r>
              <a:rPr sz="4400" dirty="0">
                <a:latin typeface="Javanese Text"/>
                <a:cs typeface="Javanese Text"/>
              </a:rPr>
              <a:t>TO</a:t>
            </a:r>
            <a:r>
              <a:rPr sz="4400" spc="-220" dirty="0">
                <a:latin typeface="Javanese Text"/>
                <a:cs typeface="Javanese Text"/>
              </a:rPr>
              <a:t> </a:t>
            </a:r>
            <a:r>
              <a:rPr sz="4400" spc="-20" dirty="0">
                <a:latin typeface="Javanese Text"/>
                <a:cs typeface="Javanese Text"/>
              </a:rPr>
              <a:t>IMAGE</a:t>
            </a:r>
            <a:r>
              <a:rPr sz="4400" spc="-229" dirty="0">
                <a:latin typeface="Javanese Text"/>
                <a:cs typeface="Javanese Text"/>
              </a:rPr>
              <a:t> </a:t>
            </a:r>
            <a:r>
              <a:rPr sz="4400" spc="-30" dirty="0">
                <a:latin typeface="Javanese Text"/>
                <a:cs typeface="Javanese Text"/>
              </a:rPr>
              <a:t>GENERATOR</a:t>
            </a:r>
            <a:endParaRPr sz="4400">
              <a:latin typeface="Javanese Text"/>
              <a:cs typeface="Javanese Tex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5067" y="1605788"/>
            <a:ext cx="5459730" cy="5342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7325" algn="ctr">
              <a:lnSpc>
                <a:spcPct val="100000"/>
              </a:lnSpc>
              <a:spcBef>
                <a:spcPts val="100"/>
              </a:spcBef>
            </a:pPr>
            <a:r>
              <a:rPr sz="3600" spc="-95" dirty="0">
                <a:latin typeface="Verdana"/>
                <a:cs typeface="Verdana"/>
              </a:rPr>
              <a:t>Under</a:t>
            </a:r>
            <a:r>
              <a:rPr sz="3600" spc="-260" dirty="0">
                <a:latin typeface="Verdana"/>
                <a:cs typeface="Verdana"/>
              </a:rPr>
              <a:t> </a:t>
            </a:r>
            <a:r>
              <a:rPr sz="3600" spc="-35" dirty="0">
                <a:latin typeface="Verdana"/>
                <a:cs typeface="Verdana"/>
              </a:rPr>
              <a:t>the</a:t>
            </a:r>
            <a:r>
              <a:rPr sz="3600" spc="-240" dirty="0">
                <a:latin typeface="Verdana"/>
                <a:cs typeface="Verdana"/>
              </a:rPr>
              <a:t> </a:t>
            </a:r>
            <a:r>
              <a:rPr sz="3600" spc="100" dirty="0">
                <a:latin typeface="Verdana"/>
                <a:cs typeface="Verdana"/>
              </a:rPr>
              <a:t>guidance</a:t>
            </a:r>
            <a:r>
              <a:rPr sz="3600" spc="-260" dirty="0">
                <a:latin typeface="Verdana"/>
                <a:cs typeface="Verdana"/>
              </a:rPr>
              <a:t> </a:t>
            </a:r>
            <a:r>
              <a:rPr sz="3600" spc="-25" dirty="0">
                <a:latin typeface="Verdana"/>
                <a:cs typeface="Verdana"/>
              </a:rPr>
              <a:t>of</a:t>
            </a:r>
            <a:endParaRPr sz="3600" dirty="0">
              <a:latin typeface="Verdana"/>
              <a:cs typeface="Verdana"/>
            </a:endParaRPr>
          </a:p>
          <a:p>
            <a:pPr marR="189865" algn="ctr">
              <a:lnSpc>
                <a:spcPct val="100000"/>
              </a:lnSpc>
              <a:spcBef>
                <a:spcPts val="45"/>
              </a:spcBef>
            </a:pPr>
            <a:r>
              <a:rPr lang="en-US" sz="1800" spc="-85" dirty="0">
                <a:latin typeface="Verdana"/>
                <a:cs typeface="Verdana"/>
              </a:rPr>
              <a:t>Prof.</a:t>
            </a:r>
            <a:r>
              <a:rPr lang="en-US" sz="1800" spc="-135" dirty="0">
                <a:latin typeface="Verdana"/>
                <a:cs typeface="Verdana"/>
              </a:rPr>
              <a:t> </a:t>
            </a:r>
            <a:r>
              <a:rPr lang="en-US" sz="1800" spc="-45" dirty="0">
                <a:latin typeface="Verdana"/>
                <a:cs typeface="Verdana"/>
              </a:rPr>
              <a:t>Vivek Krishna Mishra</a:t>
            </a:r>
            <a:endParaRPr lang="en-US"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lang="en-US"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lang="en-US"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800" dirty="0">
              <a:latin typeface="Verdana"/>
              <a:cs typeface="Verdana"/>
            </a:endParaRPr>
          </a:p>
          <a:p>
            <a:pPr marR="190500" algn="ctr">
              <a:lnSpc>
                <a:spcPct val="100000"/>
              </a:lnSpc>
            </a:pPr>
            <a:r>
              <a:rPr sz="1800" b="1" spc="-65" dirty="0">
                <a:latin typeface="Tahoma"/>
                <a:cs typeface="Tahoma"/>
              </a:rPr>
              <a:t>Presented</a:t>
            </a:r>
            <a:r>
              <a:rPr sz="1800" b="1" spc="-5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by</a:t>
            </a:r>
            <a:endParaRPr lang="en-US" sz="1800" b="1" spc="-25" dirty="0">
              <a:latin typeface="Tahoma"/>
              <a:cs typeface="Tahoma"/>
            </a:endParaRPr>
          </a:p>
          <a:p>
            <a:pPr marL="342900" marR="190500" indent="-342900" algn="ctr">
              <a:lnSpc>
                <a:spcPct val="100000"/>
              </a:lnSpc>
              <a:buAutoNum type="arabicPeriod"/>
            </a:pPr>
            <a:r>
              <a:rPr lang="en-US" b="1" spc="-25" dirty="0">
                <a:latin typeface="Tahoma"/>
                <a:cs typeface="Tahoma"/>
              </a:rPr>
              <a:t>Abhishek Kumar Choudhary</a:t>
            </a:r>
          </a:p>
          <a:p>
            <a:pPr marL="342900" marR="190500" indent="-342900" algn="ctr">
              <a:lnSpc>
                <a:spcPct val="100000"/>
              </a:lnSpc>
              <a:buAutoNum type="arabicPeriod"/>
            </a:pPr>
            <a:r>
              <a:rPr lang="en-US" sz="1800" b="1" spc="-25" dirty="0">
                <a:latin typeface="Tahoma"/>
                <a:cs typeface="Tahoma"/>
              </a:rPr>
              <a:t>Neeraj Rana</a:t>
            </a:r>
          </a:p>
          <a:p>
            <a:pPr marL="342900" marR="190500" indent="-342900" algn="ctr">
              <a:lnSpc>
                <a:spcPct val="100000"/>
              </a:lnSpc>
              <a:buAutoNum type="arabicPeriod"/>
            </a:pPr>
            <a:r>
              <a:rPr lang="en-US" b="1" spc="-25" dirty="0" err="1">
                <a:latin typeface="Tahoma"/>
                <a:cs typeface="Tahoma"/>
              </a:rPr>
              <a:t>Shivam</a:t>
            </a:r>
            <a:r>
              <a:rPr lang="en-US" b="1" spc="-25" dirty="0">
                <a:latin typeface="Tahoma"/>
                <a:cs typeface="Tahoma"/>
              </a:rPr>
              <a:t> Sharma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25"/>
              </a:spcBef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25"/>
              </a:spcBef>
            </a:pPr>
            <a:endParaRPr lang="en-US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000" b="1" spc="-45" dirty="0">
                <a:latin typeface="Times New Roman"/>
                <a:cs typeface="Times New Roman"/>
              </a:rPr>
              <a:t>Department of Artificial Intelligence and Machine Learning, </a:t>
            </a:r>
            <a:r>
              <a:rPr lang="en-US" sz="2000" b="1" spc="-45" dirty="0" err="1">
                <a:latin typeface="Times New Roman"/>
                <a:cs typeface="Times New Roman"/>
              </a:rPr>
              <a:t>Dronacharya</a:t>
            </a:r>
            <a:r>
              <a:rPr lang="en-US" sz="2000" b="1" spc="-45" dirty="0">
                <a:latin typeface="Times New Roman"/>
                <a:cs typeface="Times New Roman"/>
              </a:rPr>
              <a:t> Group of Institutions, Gr. Noida (U.P)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654" rIns="0" bIns="0" rtlCol="0">
            <a:spAutoFit/>
          </a:bodyPr>
          <a:lstStyle/>
          <a:p>
            <a:pPr marL="117602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Presentation</a:t>
            </a:r>
            <a:r>
              <a:rPr sz="4400" spc="-85" dirty="0"/>
              <a:t> </a:t>
            </a:r>
            <a:r>
              <a:rPr sz="4400" spc="-10" dirty="0"/>
              <a:t>Outline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31898" y="1623187"/>
            <a:ext cx="4223385" cy="459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0" indent="-193675">
              <a:lnSpc>
                <a:spcPct val="100000"/>
              </a:lnSpc>
              <a:spcBef>
                <a:spcPts val="105"/>
              </a:spcBef>
              <a:buSzPct val="95000"/>
              <a:buAutoNum type="arabicPeriod"/>
              <a:tabLst>
                <a:tab pos="196850" algn="l"/>
              </a:tabLst>
            </a:pP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57810" indent="-245110">
              <a:lnSpc>
                <a:spcPct val="100000"/>
              </a:lnSpc>
              <a:spcBef>
                <a:spcPts val="5"/>
              </a:spcBef>
              <a:buSzPct val="95000"/>
              <a:buAutoNum type="arabicPeriod"/>
              <a:tabLst>
                <a:tab pos="257810" algn="l"/>
              </a:tabLst>
            </a:pPr>
            <a:r>
              <a:rPr sz="2000" spc="-10" dirty="0">
                <a:latin typeface="Times New Roman"/>
                <a:cs typeface="Times New Roman"/>
              </a:rPr>
              <a:t>Motivation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57175" indent="-244475">
              <a:lnSpc>
                <a:spcPct val="100000"/>
              </a:lnSpc>
              <a:spcBef>
                <a:spcPts val="5"/>
              </a:spcBef>
              <a:buSzPct val="95000"/>
              <a:buAutoNum type="arabicPeriod"/>
              <a:tabLst>
                <a:tab pos="257175" algn="l"/>
              </a:tabLst>
            </a:pPr>
            <a:r>
              <a:rPr sz="2000" spc="-10" dirty="0">
                <a:latin typeface="Times New Roman"/>
                <a:cs typeface="Times New Roman"/>
              </a:rPr>
              <a:t>Objectives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57810" indent="-245110">
              <a:lnSpc>
                <a:spcPct val="100000"/>
              </a:lnSpc>
              <a:buSzPct val="95000"/>
              <a:buAutoNum type="arabicPeriod"/>
              <a:tabLst>
                <a:tab pos="257810" algn="l"/>
              </a:tabLst>
            </a:pPr>
            <a:r>
              <a:rPr sz="2000" spc="-10" dirty="0">
                <a:latin typeface="Times New Roman"/>
                <a:cs typeface="Times New Roman"/>
              </a:rPr>
              <a:t>Methodology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57810" indent="-245110">
              <a:lnSpc>
                <a:spcPct val="100000"/>
              </a:lnSpc>
              <a:buSzPct val="95000"/>
              <a:buAutoNum type="arabicPeriod"/>
              <a:tabLst>
                <a:tab pos="257810" algn="l"/>
              </a:tabLst>
            </a:pP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Requirements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57810" indent="-245110">
              <a:lnSpc>
                <a:spcPct val="100000"/>
              </a:lnSpc>
              <a:buSzPct val="95000"/>
              <a:buAutoNum type="arabicPeriod"/>
              <a:tabLst>
                <a:tab pos="257810" algn="l"/>
              </a:tabLst>
            </a:pPr>
            <a:r>
              <a:rPr sz="2000" spc="-10" dirty="0">
                <a:latin typeface="Times New Roman"/>
                <a:cs typeface="Times New Roman"/>
              </a:rPr>
              <a:t>Implementation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57810" indent="-245110">
              <a:lnSpc>
                <a:spcPct val="100000"/>
              </a:lnSpc>
              <a:buSzPct val="95000"/>
              <a:buAutoNum type="arabicPeriod"/>
              <a:tabLst>
                <a:tab pos="257810" algn="l"/>
              </a:tabLst>
            </a:pPr>
            <a:r>
              <a:rPr sz="2000" spc="-10" dirty="0">
                <a:latin typeface="Times New Roman"/>
                <a:cs typeface="Times New Roman"/>
              </a:rPr>
              <a:t>Results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257810" indent="-245110">
              <a:lnSpc>
                <a:spcPct val="100000"/>
              </a:lnSpc>
              <a:buSzPct val="95000"/>
              <a:buAutoNum type="arabicPeriod"/>
              <a:tabLst>
                <a:tab pos="257810" algn="l"/>
              </a:tabLst>
            </a:pPr>
            <a:r>
              <a:rPr sz="2000" spc="-10" dirty="0">
                <a:latin typeface="Times New Roman"/>
                <a:cs typeface="Times New Roman"/>
              </a:rPr>
              <a:t>References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261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130" dirty="0"/>
              <a:t> </a:t>
            </a:r>
            <a:r>
              <a:rPr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7725" y="1700276"/>
            <a:ext cx="8648700" cy="247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 algn="ctr">
              <a:lnSpc>
                <a:spcPct val="100000"/>
              </a:lnSpc>
              <a:spcBef>
                <a:spcPts val="100"/>
              </a:spcBef>
            </a:pPr>
            <a:r>
              <a:rPr sz="1800" b="1" spc="-16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8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create</a:t>
            </a:r>
            <a:r>
              <a:rPr sz="18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404040"/>
                </a:solidFill>
                <a:latin typeface="Tahoma"/>
                <a:cs typeface="Tahoma"/>
              </a:rPr>
              <a:t>text</a:t>
            </a:r>
            <a:r>
              <a:rPr sz="18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8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8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generator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55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8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8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60" dirty="0">
                <a:solidFill>
                  <a:srgbClr val="404040"/>
                </a:solidFill>
                <a:latin typeface="Tahoma"/>
                <a:cs typeface="Tahoma"/>
              </a:rPr>
              <a:t>API</a:t>
            </a:r>
            <a:r>
              <a:rPr sz="18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key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95" dirty="0">
                <a:solidFill>
                  <a:srgbClr val="404040"/>
                </a:solidFill>
                <a:latin typeface="Tahoma"/>
                <a:cs typeface="Tahoma"/>
              </a:rPr>
              <a:t>Inefficient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content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creation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processes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404040"/>
                </a:solidFill>
                <a:latin typeface="Tahoma"/>
                <a:cs typeface="Tahoma"/>
              </a:rPr>
              <a:t>hinder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7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seamless </a:t>
            </a:r>
            <a:r>
              <a:rPr sz="1800" b="1" spc="-95" dirty="0">
                <a:solidFill>
                  <a:srgbClr val="404040"/>
                </a:solidFill>
                <a:latin typeface="Tahoma"/>
                <a:cs typeface="Tahoma"/>
              </a:rPr>
              <a:t>transformation</a:t>
            </a:r>
            <a:r>
              <a:rPr sz="1800" b="1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of </a:t>
            </a:r>
            <a:r>
              <a:rPr sz="1800" b="1" spc="-80" dirty="0">
                <a:solidFill>
                  <a:srgbClr val="404040"/>
                </a:solidFill>
                <a:latin typeface="Tahoma"/>
                <a:cs typeface="Tahoma"/>
              </a:rPr>
              <a:t>textual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descriptions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95" dirty="0">
                <a:solidFill>
                  <a:srgbClr val="404040"/>
                </a:solidFill>
                <a:latin typeface="Tahoma"/>
                <a:cs typeface="Tahoma"/>
              </a:rPr>
              <a:t>into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compelling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images.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6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bridge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40" dirty="0">
                <a:solidFill>
                  <a:srgbClr val="404040"/>
                </a:solidFill>
                <a:latin typeface="Tahoma"/>
                <a:cs typeface="Tahoma"/>
              </a:rPr>
              <a:t>this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gap,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404040"/>
                </a:solidFill>
                <a:latin typeface="Tahoma"/>
                <a:cs typeface="Tahoma"/>
              </a:rPr>
              <a:t>there's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105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 need </a:t>
            </a:r>
            <a:r>
              <a:rPr sz="1800" b="1" spc="-125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an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innovative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404040"/>
                </a:solidFill>
                <a:latin typeface="Tahoma"/>
                <a:cs typeface="Tahoma"/>
              </a:rPr>
              <a:t>Text-</a:t>
            </a:r>
            <a:r>
              <a:rPr sz="1800" b="1" spc="-80" dirty="0">
                <a:solidFill>
                  <a:srgbClr val="404040"/>
                </a:solidFill>
                <a:latin typeface="Tahoma"/>
                <a:cs typeface="Tahoma"/>
              </a:rPr>
              <a:t>to-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800" b="1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Generator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55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associated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60" dirty="0">
                <a:solidFill>
                  <a:srgbClr val="404040"/>
                </a:solidFill>
                <a:latin typeface="Tahoma"/>
                <a:cs typeface="Tahoma"/>
              </a:rPr>
              <a:t>API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key.</a:t>
            </a:r>
            <a:r>
              <a:rPr sz="18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This </a:t>
            </a:r>
            <a:r>
              <a:rPr sz="1800" b="1" spc="-90" dirty="0">
                <a:solidFill>
                  <a:srgbClr val="404040"/>
                </a:solidFill>
                <a:latin typeface="Tahoma"/>
                <a:cs typeface="Tahoma"/>
              </a:rPr>
              <a:t>solution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aims </a:t>
            </a:r>
            <a:r>
              <a:rPr sz="1800" b="1" spc="-10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empower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404040"/>
                </a:solidFill>
                <a:latin typeface="Tahoma"/>
                <a:cs typeface="Tahoma"/>
              </a:rPr>
              <a:t>users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across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404040"/>
                </a:solidFill>
                <a:latin typeface="Tahoma"/>
                <a:cs typeface="Tahoma"/>
              </a:rPr>
              <a:t>industries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404040"/>
                </a:solidFill>
                <a:latin typeface="Tahoma"/>
                <a:cs typeface="Tahoma"/>
              </a:rPr>
              <a:t>effortlessly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generate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high- 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quality</a:t>
            </a:r>
            <a:r>
              <a:rPr sz="1800" b="1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404040"/>
                </a:solidFill>
                <a:latin typeface="Tahoma"/>
                <a:cs typeface="Tahoma"/>
              </a:rPr>
              <a:t>from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404040"/>
                </a:solidFill>
                <a:latin typeface="Tahoma"/>
                <a:cs typeface="Tahoma"/>
              </a:rPr>
              <a:t>text,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enhancing</a:t>
            </a:r>
            <a:r>
              <a:rPr sz="1800" b="1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404040"/>
                </a:solidFill>
                <a:latin typeface="Tahoma"/>
                <a:cs typeface="Tahoma"/>
              </a:rPr>
              <a:t>storytelling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creative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endeavors</a:t>
            </a:r>
            <a:r>
              <a:rPr sz="1800" b="1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while </a:t>
            </a:r>
            <a:r>
              <a:rPr sz="1800" b="1" spc="-70" dirty="0">
                <a:solidFill>
                  <a:srgbClr val="404040"/>
                </a:solidFill>
                <a:latin typeface="Tahoma"/>
                <a:cs typeface="Tahoma"/>
              </a:rPr>
              <a:t>streamlining</a:t>
            </a:r>
            <a:r>
              <a:rPr sz="1800" b="1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workflows.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122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35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7294" y="2397633"/>
            <a:ext cx="8654415" cy="247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1025" dirty="0">
                <a:solidFill>
                  <a:srgbClr val="E78612"/>
                </a:solidFill>
                <a:latin typeface="Microsoft Sans Serif"/>
                <a:cs typeface="Microsoft Sans Serif"/>
              </a:rPr>
              <a:t>🠶</a:t>
            </a:r>
            <a:r>
              <a:rPr sz="1800" dirty="0">
                <a:solidFill>
                  <a:srgbClr val="E78612"/>
                </a:solidFill>
                <a:latin typeface="Microsoft Sans Serif"/>
                <a:cs typeface="Microsoft Sans Serif"/>
              </a:rPr>
              <a:t>	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Visual content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3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crucial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engagement,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404040"/>
                </a:solidFill>
                <a:latin typeface="Tahoma"/>
                <a:cs typeface="Tahoma"/>
              </a:rPr>
              <a:t>but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creating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70" dirty="0">
                <a:solidFill>
                  <a:srgbClr val="404040"/>
                </a:solidFill>
                <a:latin typeface="Tahoma"/>
                <a:cs typeface="Tahoma"/>
              </a:rPr>
              <a:t>it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404040"/>
                </a:solidFill>
                <a:latin typeface="Tahoma"/>
                <a:cs typeface="Tahoma"/>
              </a:rPr>
              <a:t>time-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consuming.</a:t>
            </a:r>
            <a:endParaRPr sz="1800">
              <a:latin typeface="Tahoma"/>
              <a:cs typeface="Tahoma"/>
            </a:endParaRPr>
          </a:p>
          <a:p>
            <a:pPr marL="355600" marR="243204">
              <a:lnSpc>
                <a:spcPct val="100000"/>
              </a:lnSpc>
            </a:pPr>
            <a:r>
              <a:rPr sz="1800" b="1" spc="-125" dirty="0">
                <a:solidFill>
                  <a:srgbClr val="404040"/>
                </a:solidFill>
                <a:latin typeface="Tahoma"/>
                <a:cs typeface="Tahoma"/>
              </a:rPr>
              <a:t>Text-</a:t>
            </a:r>
            <a:r>
              <a:rPr sz="1800" b="1" spc="-80" dirty="0">
                <a:solidFill>
                  <a:srgbClr val="404040"/>
                </a:solidFill>
                <a:latin typeface="Tahoma"/>
                <a:cs typeface="Tahoma"/>
              </a:rPr>
              <a:t>to-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 Generator</a:t>
            </a:r>
            <a:r>
              <a:rPr sz="18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55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8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404040"/>
                </a:solidFill>
                <a:latin typeface="Tahoma"/>
                <a:cs typeface="Tahoma"/>
              </a:rPr>
              <a:t>streamlines</a:t>
            </a:r>
            <a:r>
              <a:rPr sz="18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creation,</a:t>
            </a:r>
            <a:r>
              <a:rPr sz="18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enhances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creativity, </a:t>
            </a:r>
            <a:r>
              <a:rPr sz="1800" b="1" spc="-65" dirty="0">
                <a:solidFill>
                  <a:srgbClr val="404040"/>
                </a:solidFill>
                <a:latin typeface="Tahoma"/>
                <a:cs typeface="Tahoma"/>
              </a:rPr>
              <a:t>boosts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accessibility,</a:t>
            </a:r>
            <a:r>
              <a:rPr sz="18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8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404040"/>
                </a:solidFill>
                <a:latin typeface="Tahoma"/>
                <a:cs typeface="Tahoma"/>
              </a:rPr>
              <a:t>serves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diverse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404040"/>
                </a:solidFill>
                <a:latin typeface="Tahoma"/>
                <a:cs typeface="Tahoma"/>
              </a:rPr>
              <a:t>industries,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404040"/>
                </a:solidFill>
                <a:latin typeface="Tahoma"/>
                <a:cs typeface="Tahoma"/>
              </a:rPr>
              <a:t>revolutionizing</a:t>
            </a:r>
            <a:r>
              <a:rPr sz="18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content 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creation</a:t>
            </a:r>
            <a:r>
              <a:rPr sz="1800" b="1" spc="-90" dirty="0">
                <a:solidFill>
                  <a:srgbClr val="404040"/>
                </a:solidFill>
                <a:latin typeface="Tahoma"/>
                <a:cs typeface="Tahoma"/>
              </a:rPr>
              <a:t> in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7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800" b="1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digital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age.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1800">
              <a:latin typeface="Tahoma"/>
              <a:cs typeface="Tahoma"/>
            </a:endParaRPr>
          </a:p>
          <a:p>
            <a:pPr marL="355600" marR="598805" indent="-342900" algn="just">
              <a:lnSpc>
                <a:spcPct val="100000"/>
              </a:lnSpc>
            </a:pPr>
            <a:r>
              <a:rPr sz="1800" spc="1075" dirty="0">
                <a:solidFill>
                  <a:srgbClr val="E78612"/>
                </a:solidFill>
                <a:latin typeface="Microsoft Sans Serif"/>
                <a:cs typeface="Microsoft Sans Serif"/>
              </a:rPr>
              <a:t>🠶</a:t>
            </a:r>
            <a:r>
              <a:rPr sz="1800" spc="490" dirty="0">
                <a:solidFill>
                  <a:srgbClr val="E78612"/>
                </a:solidFill>
                <a:latin typeface="Microsoft Sans Serif"/>
                <a:cs typeface="Microsoft Sans Serif"/>
              </a:rPr>
              <a:t> </a:t>
            </a:r>
            <a:r>
              <a:rPr sz="1800" b="1" spc="-15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800" b="1" spc="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404040"/>
                </a:solidFill>
                <a:latin typeface="Tahoma"/>
                <a:cs typeface="Tahoma"/>
              </a:rPr>
              <a:t>Text-</a:t>
            </a:r>
            <a:r>
              <a:rPr sz="1800" b="1" spc="-80" dirty="0">
                <a:solidFill>
                  <a:srgbClr val="404040"/>
                </a:solidFill>
                <a:latin typeface="Tahoma"/>
                <a:cs typeface="Tahoma"/>
              </a:rPr>
              <a:t>to-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800" b="1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Generator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90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800" b="1" spc="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emerges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as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105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404040"/>
                </a:solidFill>
                <a:latin typeface="Tahoma"/>
                <a:cs typeface="Tahoma"/>
              </a:rPr>
              <a:t>transformative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solution,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leveraging</a:t>
            </a:r>
            <a:r>
              <a:rPr sz="1800" b="1" spc="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advanced</a:t>
            </a:r>
            <a:r>
              <a:rPr sz="1800" b="1" spc="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404040"/>
                </a:solidFill>
                <a:latin typeface="Tahoma"/>
                <a:cs typeface="Tahoma"/>
              </a:rPr>
              <a:t>algorithms</a:t>
            </a:r>
            <a:r>
              <a:rPr sz="1800" b="1" spc="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800" b="1" spc="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70" dirty="0">
                <a:solidFill>
                  <a:srgbClr val="404040"/>
                </a:solidFill>
                <a:latin typeface="Tahoma"/>
                <a:cs typeface="Tahoma"/>
              </a:rPr>
              <a:t>natural</a:t>
            </a:r>
            <a:r>
              <a:rPr sz="1800" b="1" spc="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language</a:t>
            </a:r>
            <a:r>
              <a:rPr sz="1800" b="1" spc="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processing</a:t>
            </a:r>
            <a:r>
              <a:rPr sz="1800" b="1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to 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seamlessly</a:t>
            </a:r>
            <a:r>
              <a:rPr sz="1800" b="1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404040"/>
                </a:solidFill>
                <a:latin typeface="Tahoma"/>
                <a:cs typeface="Tahoma"/>
              </a:rPr>
              <a:t>translate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80" dirty="0">
                <a:solidFill>
                  <a:srgbClr val="404040"/>
                </a:solidFill>
                <a:latin typeface="Tahoma"/>
                <a:cs typeface="Tahoma"/>
              </a:rPr>
              <a:t>textual</a:t>
            </a:r>
            <a:r>
              <a:rPr sz="18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404040"/>
                </a:solidFill>
                <a:latin typeface="Tahoma"/>
                <a:cs typeface="Tahoma"/>
              </a:rPr>
              <a:t>descriptions </a:t>
            </a:r>
            <a:r>
              <a:rPr sz="1800" b="1" spc="-95" dirty="0">
                <a:solidFill>
                  <a:srgbClr val="404040"/>
                </a:solidFill>
                <a:latin typeface="Tahoma"/>
                <a:cs typeface="Tahoma"/>
              </a:rPr>
              <a:t>into</a:t>
            </a:r>
            <a:r>
              <a:rPr sz="18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captivating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images.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074" rIns="0" bIns="0" rtlCol="0">
            <a:spAutoFit/>
          </a:bodyPr>
          <a:lstStyle/>
          <a:p>
            <a:pPr marL="238315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3.</a:t>
            </a:r>
            <a:r>
              <a:rPr sz="4300" spc="-40" dirty="0"/>
              <a:t> </a:t>
            </a:r>
            <a:r>
              <a:rPr sz="4300" spc="-10" dirty="0"/>
              <a:t>OBJECTIVES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43788" y="1814829"/>
            <a:ext cx="10455275" cy="39458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988694" indent="213995">
              <a:lnSpc>
                <a:spcPts val="1620"/>
              </a:lnSpc>
              <a:spcBef>
                <a:spcPts val="305"/>
              </a:spcBef>
              <a:buAutoNum type="arabicPeriod"/>
              <a:tabLst>
                <a:tab pos="226695" algn="l"/>
              </a:tabLst>
            </a:pP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**Efficiency:**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Develop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20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system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55" dirty="0">
                <a:solidFill>
                  <a:srgbClr val="404040"/>
                </a:solidFill>
                <a:latin typeface="Tahoma"/>
                <a:cs typeface="Tahoma"/>
              </a:rPr>
              <a:t>capable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rapidly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generating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high-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quality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from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textual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descriptions,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streamlining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content creation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processes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reducing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time-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to-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market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visual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assets.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Clr>
                <a:srgbClr val="404040"/>
              </a:buClr>
              <a:buFont typeface="Tahoma"/>
              <a:buAutoNum type="arabicPeriod"/>
            </a:pPr>
            <a:endParaRPr sz="1500">
              <a:latin typeface="Tahoma"/>
              <a:cs typeface="Tahoma"/>
            </a:endParaRPr>
          </a:p>
          <a:p>
            <a:pPr marL="226695" indent="-213995">
              <a:lnSpc>
                <a:spcPts val="1710"/>
              </a:lnSpc>
              <a:buAutoNum type="arabicPeriod"/>
              <a:tabLst>
                <a:tab pos="226695" algn="l"/>
              </a:tabLst>
            </a:pPr>
            <a:r>
              <a:rPr sz="1500" b="1" spc="-135" dirty="0">
                <a:solidFill>
                  <a:srgbClr val="404040"/>
                </a:solidFill>
                <a:latin typeface="Tahoma"/>
                <a:cs typeface="Tahoma"/>
              </a:rPr>
              <a:t>**Quality:**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5" dirty="0">
                <a:solidFill>
                  <a:srgbClr val="404040"/>
                </a:solidFill>
                <a:latin typeface="Tahoma"/>
                <a:cs typeface="Tahoma"/>
              </a:rPr>
              <a:t>Ensure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5" dirty="0">
                <a:solidFill>
                  <a:srgbClr val="404040"/>
                </a:solidFill>
                <a:latin typeface="Tahoma"/>
                <a:cs typeface="Tahoma"/>
              </a:rPr>
              <a:t>that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generated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exhibit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9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high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level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of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realism,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fidelity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textual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input,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ts val="1710"/>
              </a:lnSpc>
            </a:pP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aesthetic</a:t>
            </a:r>
            <a:r>
              <a:rPr sz="1500" b="1" spc="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appeal,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enhancing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5" dirty="0">
                <a:solidFill>
                  <a:srgbClr val="404040"/>
                </a:solidFill>
                <a:latin typeface="Tahoma"/>
                <a:cs typeface="Tahoma"/>
              </a:rPr>
              <a:t>their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usefulness</a:t>
            </a:r>
            <a:r>
              <a:rPr sz="1500" b="1" spc="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diverse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applications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and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audiences.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ahoma"/>
              <a:cs typeface="Tahoma"/>
            </a:endParaRPr>
          </a:p>
          <a:p>
            <a:pPr marL="12700" marR="363220" indent="213995">
              <a:lnSpc>
                <a:spcPts val="1620"/>
              </a:lnSpc>
              <a:buAutoNum type="arabicPeriod" startAt="3"/>
              <a:tabLst>
                <a:tab pos="226695" algn="l"/>
              </a:tabLst>
            </a:pP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**Scalability:**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Design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20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model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infrastructure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handle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large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volumes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text-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to-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generation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requests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efficiently,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enabling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seamless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integration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into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various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platforms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workflows.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Clr>
                <a:srgbClr val="404040"/>
              </a:buClr>
              <a:buFont typeface="Tahoma"/>
              <a:buAutoNum type="arabicPeriod" startAt="3"/>
            </a:pPr>
            <a:endParaRPr sz="1500">
              <a:latin typeface="Tahoma"/>
              <a:cs typeface="Tahoma"/>
            </a:endParaRPr>
          </a:p>
          <a:p>
            <a:pPr marL="226695" indent="-213995">
              <a:lnSpc>
                <a:spcPts val="1710"/>
              </a:lnSpc>
              <a:buAutoNum type="arabicPeriod" startAt="3"/>
              <a:tabLst>
                <a:tab pos="226695" algn="l"/>
              </a:tabLst>
            </a:pPr>
            <a:r>
              <a:rPr sz="1500" b="1" spc="-95" dirty="0">
                <a:solidFill>
                  <a:srgbClr val="404040"/>
                </a:solidFill>
                <a:latin typeface="Tahoma"/>
                <a:cs typeface="Tahoma"/>
              </a:rPr>
              <a:t>**Adaptability:**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Create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9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flexible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25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architecture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55" dirty="0">
                <a:solidFill>
                  <a:srgbClr val="404040"/>
                </a:solidFill>
                <a:latin typeface="Tahoma"/>
                <a:cs typeface="Tahoma"/>
              </a:rPr>
              <a:t>capable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b="1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accommodating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diverse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textual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inputs,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including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ts val="1710"/>
              </a:lnSpc>
            </a:pP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varying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lengths,</a:t>
            </a:r>
            <a:r>
              <a:rPr sz="1500" b="1" spc="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languages,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styles,</a:t>
            </a:r>
            <a:r>
              <a:rPr sz="1500" b="1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while</a:t>
            </a:r>
            <a:r>
              <a:rPr sz="1500" b="1" spc="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maintaining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coherence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relevance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in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generated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images.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Tahoma"/>
              <a:cs typeface="Tahoma"/>
            </a:endParaRPr>
          </a:p>
          <a:p>
            <a:pPr marL="12700" marR="87630" indent="213995">
              <a:lnSpc>
                <a:spcPts val="1620"/>
              </a:lnSpc>
              <a:spcBef>
                <a:spcPts val="5"/>
              </a:spcBef>
              <a:buAutoNum type="arabicPeriod" startAt="5"/>
              <a:tabLst>
                <a:tab pos="226695" algn="l"/>
              </a:tabLst>
            </a:pPr>
            <a:r>
              <a:rPr sz="1500" b="1" spc="-85" dirty="0">
                <a:solidFill>
                  <a:srgbClr val="404040"/>
                </a:solidFill>
                <a:latin typeface="Tahoma"/>
                <a:cs typeface="Tahoma"/>
              </a:rPr>
              <a:t>**Accessibility:**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Implement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features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improve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accessibility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visually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impaired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users,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such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as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generating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alternative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0" dirty="0">
                <a:solidFill>
                  <a:srgbClr val="404040"/>
                </a:solidFill>
                <a:latin typeface="Tahoma"/>
                <a:cs typeface="Tahoma"/>
              </a:rPr>
              <a:t>text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descriptions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alongside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or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providing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options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customization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based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user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preferences.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625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3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9308" y="1555749"/>
            <a:ext cx="8074025" cy="42919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.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Preprocessing: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Clean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standardize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textual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data.</a:t>
            </a:r>
            <a:endParaRPr sz="1500">
              <a:latin typeface="Tahoma"/>
              <a:cs typeface="Tahoma"/>
            </a:endParaRPr>
          </a:p>
          <a:p>
            <a:pPr marL="1632585">
              <a:lnSpc>
                <a:spcPct val="100000"/>
              </a:lnSpc>
              <a:spcBef>
                <a:spcPts val="994"/>
              </a:spcBef>
            </a:pP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Resize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format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uniformly.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.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Feature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Encoding:</a:t>
            </a:r>
            <a:r>
              <a:rPr sz="1500" b="1" spc="2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Convert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0" dirty="0">
                <a:solidFill>
                  <a:srgbClr val="404040"/>
                </a:solidFill>
                <a:latin typeface="Tahoma"/>
                <a:cs typeface="Tahoma"/>
              </a:rPr>
              <a:t>text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into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numerical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representations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using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45" dirty="0">
                <a:solidFill>
                  <a:srgbClr val="404040"/>
                </a:solidFill>
                <a:latin typeface="Tahoma"/>
                <a:cs typeface="Tahoma"/>
              </a:rPr>
              <a:t>NLP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techniques.</a:t>
            </a:r>
            <a:endParaRPr sz="1500">
              <a:latin typeface="Tahoma"/>
              <a:cs typeface="Tahoma"/>
            </a:endParaRPr>
          </a:p>
          <a:p>
            <a:pPr marL="438784" algn="ctr">
              <a:lnSpc>
                <a:spcPct val="100000"/>
              </a:lnSpc>
              <a:spcBef>
                <a:spcPts val="994"/>
              </a:spcBef>
            </a:pP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Extract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visual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features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from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using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CNNs.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.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Model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Selection: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Choose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appropriate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architecture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(e.g.,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GANs,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VAEs,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transformers).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.</a:t>
            </a:r>
            <a:r>
              <a:rPr sz="1500" b="1" spc="-85" dirty="0">
                <a:solidFill>
                  <a:srgbClr val="404040"/>
                </a:solidFill>
                <a:latin typeface="Tahoma"/>
                <a:cs typeface="Tahoma"/>
              </a:rPr>
              <a:t> Training: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14" dirty="0">
                <a:solidFill>
                  <a:srgbClr val="404040"/>
                </a:solidFill>
                <a:latin typeface="Tahoma"/>
                <a:cs typeface="Tahoma"/>
              </a:rPr>
              <a:t>Train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model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generate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from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textual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inputs.</a:t>
            </a:r>
            <a:endParaRPr sz="1500">
              <a:latin typeface="Tahoma"/>
              <a:cs typeface="Tahoma"/>
            </a:endParaRPr>
          </a:p>
          <a:p>
            <a:pPr marL="1038225">
              <a:lnSpc>
                <a:spcPct val="100000"/>
              </a:lnSpc>
              <a:spcBef>
                <a:spcPts val="1010"/>
              </a:spcBef>
            </a:pP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-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Optimize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realism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textual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relevance.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.Evalution: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Asses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quality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using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metrics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like </a:t>
            </a:r>
            <a:r>
              <a:rPr sz="1500" b="1" spc="-25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FID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-55" dirty="0"/>
              <a:t> </a:t>
            </a: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Hardware</a:t>
            </a:r>
            <a:r>
              <a:rPr spc="-6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1590" y="1368932"/>
            <a:ext cx="10725785" cy="454265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26695" indent="-213995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226695" algn="l"/>
              </a:tabLst>
            </a:pPr>
            <a:r>
              <a:rPr sz="1500" b="1" spc="-130" dirty="0">
                <a:solidFill>
                  <a:srgbClr val="404040"/>
                </a:solidFill>
                <a:latin typeface="Tahoma"/>
                <a:cs typeface="Tahoma"/>
              </a:rPr>
              <a:t>**Software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Requirements**:</a:t>
            </a:r>
            <a:endParaRPr sz="1500" dirty="0">
              <a:latin typeface="Tahoma"/>
              <a:cs typeface="Tahoma"/>
            </a:endParaRPr>
          </a:p>
          <a:p>
            <a:pPr marL="12700" marR="44450" lvl="1" indent="393065">
              <a:lnSpc>
                <a:spcPct val="80000"/>
              </a:lnSpc>
              <a:spcBef>
                <a:spcPts val="994"/>
              </a:spcBef>
              <a:buAutoNum type="alphaLcPeriod"/>
              <a:tabLst>
                <a:tab pos="405765" algn="l"/>
              </a:tabLst>
            </a:pPr>
            <a:r>
              <a:rPr sz="1500" b="1" spc="-90" dirty="0">
                <a:solidFill>
                  <a:srgbClr val="404040"/>
                </a:solidFill>
                <a:latin typeface="Tahoma"/>
                <a:cs typeface="Tahoma"/>
              </a:rPr>
              <a:t>**Deep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Learning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Framework**: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lang="en-US" sz="1500" b="1" spc="1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E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nsure the API you are using for text-to-image generation supports seamless integration with the MERN stack. The API should handle the underlying deep learning models built using frameworks like TensorFlow or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PyTorch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400" b="1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44475" lvl="1" indent="-231775">
              <a:lnSpc>
                <a:spcPct val="100000"/>
              </a:lnSpc>
              <a:spcBef>
                <a:spcPts val="635"/>
              </a:spcBef>
              <a:buAutoNum type="alphaLcPeriod"/>
              <a:tabLst>
                <a:tab pos="244475" algn="l"/>
              </a:tabLst>
            </a:pPr>
            <a:r>
              <a:rPr sz="1500" b="1" spc="-135" dirty="0">
                <a:solidFill>
                  <a:srgbClr val="404040"/>
                </a:solidFill>
                <a:latin typeface="Tahoma"/>
                <a:cs typeface="Tahoma"/>
              </a:rPr>
              <a:t>API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Key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4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Secure and authenticate access to the API with a valid API key. This key should enable access to the datasets and services required for the app</a:t>
            </a:r>
            <a:r>
              <a:rPr lang="en-US" sz="1500" b="1" dirty="0"/>
              <a:t>.</a:t>
            </a:r>
            <a:endParaRPr sz="1500" b="1" dirty="0">
              <a:latin typeface="Tahoma"/>
              <a:cs typeface="Tahoma"/>
            </a:endParaRPr>
          </a:p>
          <a:p>
            <a:pPr marL="226060" indent="-213360">
              <a:lnSpc>
                <a:spcPct val="100000"/>
              </a:lnSpc>
              <a:buAutoNum type="arabicPeriod" startAt="2"/>
              <a:tabLst>
                <a:tab pos="226060" algn="l"/>
              </a:tabLst>
            </a:pPr>
            <a:r>
              <a:rPr sz="1500" b="1" spc="-100" dirty="0">
                <a:solidFill>
                  <a:srgbClr val="404040"/>
                </a:solidFill>
                <a:latin typeface="Tahoma"/>
                <a:cs typeface="Tahoma"/>
              </a:rPr>
              <a:t>**Hardware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Requirements**:</a:t>
            </a:r>
            <a:endParaRPr sz="1500" dirty="0">
              <a:latin typeface="Tahoma"/>
              <a:cs typeface="Tahoma"/>
            </a:endParaRPr>
          </a:p>
          <a:p>
            <a:pPr marL="12700" marR="557530" lvl="1" indent="393065">
              <a:lnSpc>
                <a:spcPct val="80000"/>
              </a:lnSpc>
              <a:spcBef>
                <a:spcPts val="1000"/>
              </a:spcBef>
              <a:buAutoNum type="alphaLcPeriod"/>
              <a:tabLst>
                <a:tab pos="405765" algn="l"/>
              </a:tabLst>
            </a:pPr>
            <a:r>
              <a:rPr sz="1500" b="1" spc="-195" dirty="0">
                <a:solidFill>
                  <a:srgbClr val="404040"/>
                </a:solidFill>
                <a:latin typeface="Tahoma"/>
                <a:cs typeface="Tahoma"/>
              </a:rPr>
              <a:t>**CPU**:</a:t>
            </a:r>
            <a:r>
              <a:rPr sz="1500" b="1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modern multicore CPU is recommended for server-side operations like handling API requests and running your MERN stack.</a:t>
            </a:r>
          </a:p>
          <a:p>
            <a:pPr marL="12700" marR="557530" lvl="1">
              <a:lnSpc>
                <a:spcPct val="80000"/>
              </a:lnSpc>
              <a:spcBef>
                <a:spcPts val="1000"/>
              </a:spcBef>
              <a:tabLst>
                <a:tab pos="405765" algn="l"/>
              </a:tabLst>
            </a:pPr>
            <a:endParaRPr sz="1500" b="1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718820" lvl="1" indent="393065">
              <a:lnSpc>
                <a:spcPct val="80000"/>
              </a:lnSpc>
              <a:buAutoNum type="alphaLcPeriod"/>
              <a:tabLst>
                <a:tab pos="405765" algn="l"/>
              </a:tabLst>
            </a:pPr>
            <a:r>
              <a:rPr sz="1500" b="1" spc="-90" dirty="0">
                <a:solidFill>
                  <a:srgbClr val="404040"/>
                </a:solidFill>
                <a:latin typeface="Tahoma"/>
                <a:cs typeface="Tahoma"/>
              </a:rPr>
              <a:t>**Memory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40" dirty="0">
                <a:solidFill>
                  <a:srgbClr val="404040"/>
                </a:solidFill>
                <a:latin typeface="Tahoma"/>
                <a:cs typeface="Tahoma"/>
              </a:rPr>
              <a:t>(RAM)**:</a:t>
            </a:r>
            <a:r>
              <a:rPr sz="1500" b="1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Sufficient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RAM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essential,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especially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when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working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30" dirty="0">
                <a:solidFill>
                  <a:srgbClr val="404040"/>
                </a:solidFill>
                <a:latin typeface="Tahoma"/>
                <a:cs typeface="Tahoma"/>
              </a:rPr>
              <a:t>with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large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datasets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or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models.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30" dirty="0">
                <a:solidFill>
                  <a:srgbClr val="404040"/>
                </a:solidFill>
                <a:latin typeface="Tahoma"/>
                <a:cs typeface="Tahoma"/>
              </a:rPr>
              <a:t>A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minimum</a:t>
            </a:r>
            <a:r>
              <a:rPr sz="1500" b="1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16GB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RAM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recommended,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but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more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may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50" dirty="0">
                <a:solidFill>
                  <a:srgbClr val="404040"/>
                </a:solidFill>
                <a:latin typeface="Tahoma"/>
                <a:cs typeface="Tahoma"/>
              </a:rPr>
              <a:t>be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needed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larger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models.</a:t>
            </a:r>
            <a:endParaRPr sz="15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635"/>
              </a:spcBef>
              <a:buClr>
                <a:srgbClr val="404040"/>
              </a:buClr>
              <a:buFont typeface="Tahoma"/>
              <a:buAutoNum type="alphaLcPeriod"/>
            </a:pPr>
            <a:endParaRPr sz="1500" dirty="0">
              <a:latin typeface="Tahoma"/>
              <a:cs typeface="Tahoma"/>
            </a:endParaRPr>
          </a:p>
          <a:p>
            <a:pPr marL="12700" marR="443865" lvl="1" indent="390525">
              <a:lnSpc>
                <a:spcPct val="80000"/>
              </a:lnSpc>
              <a:spcBef>
                <a:spcPts val="5"/>
              </a:spcBef>
              <a:buAutoNum type="alphaLcPeriod"/>
              <a:tabLst>
                <a:tab pos="403225" algn="l"/>
              </a:tabLst>
            </a:pPr>
            <a:r>
              <a:rPr sz="1500" b="1" spc="-145" dirty="0">
                <a:solidFill>
                  <a:srgbClr val="404040"/>
                </a:solidFill>
                <a:latin typeface="Tahoma"/>
                <a:cs typeface="Tahoma"/>
              </a:rPr>
              <a:t>**Storage**: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You'll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need enough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disk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space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store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your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datasets,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model</a:t>
            </a:r>
            <a:r>
              <a:rPr sz="1500" b="1" spc="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files,</a:t>
            </a:r>
            <a:r>
              <a:rPr sz="1500" b="1" spc="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any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intermediate</a:t>
            </a:r>
            <a:r>
              <a:rPr sz="1500" b="1" spc="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results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generated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during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training.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55" dirty="0">
                <a:solidFill>
                  <a:srgbClr val="404040"/>
                </a:solidFill>
                <a:latin typeface="Tahoma"/>
                <a:cs typeface="Tahoma"/>
              </a:rPr>
              <a:t>SSDs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are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preferred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5" dirty="0">
                <a:solidFill>
                  <a:srgbClr val="404040"/>
                </a:solidFill>
                <a:latin typeface="Tahoma"/>
                <a:cs typeface="Tahoma"/>
              </a:rPr>
              <a:t>faster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data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access.</a:t>
            </a:r>
            <a:endParaRPr sz="15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620"/>
              </a:spcBef>
              <a:buClr>
                <a:srgbClr val="404040"/>
              </a:buClr>
              <a:buFont typeface="Tahoma"/>
              <a:buAutoNum type="alphaLcPeriod"/>
            </a:pPr>
            <a:endParaRPr sz="1500" dirty="0">
              <a:latin typeface="Tahoma"/>
              <a:cs typeface="Tahoma"/>
            </a:endParaRPr>
          </a:p>
          <a:p>
            <a:pPr marL="12700" marR="5080" lvl="1" indent="393065">
              <a:lnSpc>
                <a:spcPct val="80000"/>
              </a:lnSpc>
              <a:buAutoNum type="alphaLcPeriod"/>
              <a:tabLst>
                <a:tab pos="405765" algn="l"/>
              </a:tabLst>
            </a:pPr>
            <a:r>
              <a:rPr sz="1500" b="1" spc="-114" dirty="0">
                <a:solidFill>
                  <a:srgbClr val="404040"/>
                </a:solidFill>
                <a:latin typeface="Tahoma"/>
                <a:cs typeface="Tahoma"/>
              </a:rPr>
              <a:t>**Cooling**:</a:t>
            </a:r>
            <a:r>
              <a:rPr sz="1500" b="1" spc="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the MERN stack's hardware requirements are generally moderate, ensure proper cooling if hosting on a physical server to maintain system stability under load.</a:t>
            </a:r>
            <a:endParaRPr sz="1500" b="1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31" rIns="0" bIns="0" rtlCol="0">
            <a:spAutoFit/>
          </a:bodyPr>
          <a:lstStyle/>
          <a:p>
            <a:pPr marL="1844039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6. </a:t>
            </a:r>
            <a:r>
              <a:rPr sz="4400" spc="-10" dirty="0"/>
              <a:t>Implementation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084958" y="1977390"/>
            <a:ext cx="7927340" cy="309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695" indent="-2139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26695" algn="l"/>
              </a:tabLst>
            </a:pPr>
            <a:r>
              <a:rPr sz="1500" b="1" spc="-165" dirty="0">
                <a:solidFill>
                  <a:srgbClr val="404040"/>
                </a:solidFill>
                <a:latin typeface="Tahoma"/>
                <a:cs typeface="Tahoma"/>
              </a:rPr>
              <a:t>**Data**:</a:t>
            </a:r>
            <a:r>
              <a:rPr sz="1500" b="1" spc="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Collect</a:t>
            </a:r>
            <a:r>
              <a:rPr sz="1500" b="1" spc="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0" dirty="0">
                <a:solidFill>
                  <a:srgbClr val="404040"/>
                </a:solidFill>
                <a:latin typeface="Tahoma"/>
                <a:cs typeface="Tahoma"/>
              </a:rPr>
              <a:t>text-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500" b="1" spc="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pairs,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preprocess</a:t>
            </a:r>
            <a:r>
              <a:rPr sz="1500" b="1" spc="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0" dirty="0">
                <a:solidFill>
                  <a:srgbClr val="404040"/>
                </a:solidFill>
                <a:latin typeface="Tahoma"/>
                <a:cs typeface="Tahoma"/>
              </a:rPr>
              <a:t>text</a:t>
            </a:r>
            <a:r>
              <a:rPr sz="1500" b="1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images.</a:t>
            </a: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404040"/>
              </a:buClr>
              <a:buFont typeface="Tahoma"/>
              <a:buAutoNum type="arabicPeriod"/>
            </a:pP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404040"/>
              </a:buClr>
              <a:buFont typeface="Tahoma"/>
              <a:buAutoNum type="arabicPeriod"/>
            </a:pPr>
            <a:endParaRPr sz="1500" dirty="0">
              <a:latin typeface="Tahoma"/>
              <a:cs typeface="Tahoma"/>
            </a:endParaRPr>
          </a:p>
          <a:p>
            <a:pPr marL="226695" indent="-213995">
              <a:lnSpc>
                <a:spcPct val="100000"/>
              </a:lnSpc>
              <a:buAutoNum type="arabicPeriod"/>
              <a:tabLst>
                <a:tab pos="226695" algn="l"/>
              </a:tabLst>
            </a:pPr>
            <a:r>
              <a:rPr sz="1500" b="1" spc="-135" dirty="0">
                <a:solidFill>
                  <a:srgbClr val="404040"/>
                </a:solidFill>
                <a:latin typeface="Tahoma"/>
                <a:cs typeface="Tahoma"/>
              </a:rPr>
              <a:t>**Model**:</a:t>
            </a:r>
            <a:r>
              <a:rPr sz="1500" b="1" spc="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Choose</a:t>
            </a:r>
            <a:r>
              <a:rPr sz="1500" b="1" spc="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architecture</a:t>
            </a:r>
            <a:r>
              <a:rPr sz="1500" b="1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(cGAN,</a:t>
            </a:r>
            <a:r>
              <a:rPr sz="1500" b="1" spc="5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VAE,</a:t>
            </a:r>
            <a:r>
              <a:rPr sz="1500" b="1" spc="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etc.)</a:t>
            </a:r>
            <a:r>
              <a:rPr sz="1500" b="1" spc="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for</a:t>
            </a:r>
            <a:r>
              <a:rPr sz="1500" b="1" spc="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0" dirty="0">
                <a:solidFill>
                  <a:srgbClr val="404040"/>
                </a:solidFill>
                <a:latin typeface="Tahoma"/>
                <a:cs typeface="Tahoma"/>
              </a:rPr>
              <a:t>text-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to-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500" b="1" spc="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generation.</a:t>
            </a: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404040"/>
              </a:buClr>
              <a:buFont typeface="Tahoma"/>
              <a:buAutoNum type="arabicPeriod"/>
            </a:pP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404040"/>
              </a:buClr>
              <a:buFont typeface="Tahoma"/>
              <a:buAutoNum type="arabicPeriod"/>
            </a:pPr>
            <a:endParaRPr sz="1500" dirty="0">
              <a:latin typeface="Tahoma"/>
              <a:cs typeface="Tahoma"/>
            </a:endParaRPr>
          </a:p>
          <a:p>
            <a:pPr marL="226060" indent="-213360">
              <a:lnSpc>
                <a:spcPct val="100000"/>
              </a:lnSpc>
              <a:buAutoNum type="arabicPeriod"/>
              <a:tabLst>
                <a:tab pos="226060" algn="l"/>
              </a:tabLst>
            </a:pPr>
            <a:r>
              <a:rPr sz="1500" b="1" spc="-195" dirty="0">
                <a:solidFill>
                  <a:srgbClr val="404040"/>
                </a:solidFill>
                <a:latin typeface="Tahoma"/>
                <a:cs typeface="Tahoma"/>
              </a:rPr>
              <a:t>**Train**: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Use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training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data,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define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loss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functions,</a:t>
            </a:r>
            <a:r>
              <a:rPr sz="15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experiment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30" dirty="0">
                <a:solidFill>
                  <a:srgbClr val="404040"/>
                </a:solidFill>
                <a:latin typeface="Tahoma"/>
                <a:cs typeface="Tahoma"/>
              </a:rPr>
              <a:t>with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hyperparameters.</a:t>
            </a: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404040"/>
              </a:buClr>
              <a:buFont typeface="Tahoma"/>
              <a:buAutoNum type="arabicPeriod"/>
            </a:pP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404040"/>
              </a:buClr>
              <a:buFont typeface="Tahoma"/>
              <a:buAutoNum type="arabicPeriod"/>
            </a:pPr>
            <a:endParaRPr sz="1500" dirty="0">
              <a:latin typeface="Tahoma"/>
              <a:cs typeface="Tahoma"/>
            </a:endParaRPr>
          </a:p>
          <a:p>
            <a:pPr marL="226695" indent="-213995">
              <a:lnSpc>
                <a:spcPct val="100000"/>
              </a:lnSpc>
              <a:buAutoNum type="arabicPeriod"/>
              <a:tabLst>
                <a:tab pos="226695" algn="l"/>
              </a:tabLst>
            </a:pPr>
            <a:r>
              <a:rPr sz="1500" b="1" spc="-135" dirty="0">
                <a:solidFill>
                  <a:srgbClr val="404040"/>
                </a:solidFill>
                <a:latin typeface="Tahoma"/>
                <a:cs typeface="Tahoma"/>
              </a:rPr>
              <a:t>**Evaluate**: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Measure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performance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using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metrics,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visually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inspect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results.</a:t>
            </a: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404040"/>
              </a:buClr>
              <a:buFont typeface="Tahoma"/>
              <a:buAutoNum type="arabicPeriod"/>
            </a:pPr>
            <a:endParaRPr sz="1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404040"/>
              </a:buClr>
              <a:buFont typeface="Tahoma"/>
              <a:buAutoNum type="arabicPeriod"/>
            </a:pPr>
            <a:endParaRPr sz="1500" dirty="0">
              <a:latin typeface="Tahoma"/>
              <a:cs typeface="Tahoma"/>
            </a:endParaRPr>
          </a:p>
          <a:p>
            <a:pPr marL="226695" indent="-2139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26695" algn="l"/>
              </a:tabLst>
            </a:pPr>
            <a:r>
              <a:rPr sz="1500" b="1" spc="-130" dirty="0">
                <a:solidFill>
                  <a:srgbClr val="404040"/>
                </a:solidFill>
                <a:latin typeface="Tahoma"/>
                <a:cs typeface="Tahoma"/>
              </a:rPr>
              <a:t>**Deploy**: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Integrate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0" dirty="0">
                <a:solidFill>
                  <a:srgbClr val="404040"/>
                </a:solidFill>
                <a:latin typeface="Tahoma"/>
                <a:cs typeface="Tahoma"/>
              </a:rPr>
              <a:t>into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application,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monitor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and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update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as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needed.</a:t>
            </a:r>
            <a:endParaRPr sz="15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592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7. </a:t>
            </a:r>
            <a:r>
              <a:rPr sz="3600" spc="-10" dirty="0"/>
              <a:t>Results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4054" y="2074875"/>
            <a:ext cx="10201910" cy="187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2131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500" spc="850" dirty="0">
                <a:solidFill>
                  <a:srgbClr val="E78612"/>
                </a:solidFill>
                <a:latin typeface="Microsoft Sans Serif"/>
                <a:cs typeface="Microsoft Sans Serif"/>
              </a:rPr>
              <a:t>🠶</a:t>
            </a:r>
            <a:r>
              <a:rPr sz="1500" dirty="0">
                <a:solidFill>
                  <a:srgbClr val="E78612"/>
                </a:solidFill>
                <a:latin typeface="Microsoft Sans Serif"/>
                <a:cs typeface="Microsoft Sans Serif"/>
              </a:rPr>
              <a:t>	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5" dirty="0">
                <a:solidFill>
                  <a:srgbClr val="404040"/>
                </a:solidFill>
                <a:latin typeface="Tahoma"/>
                <a:cs typeface="Tahoma"/>
              </a:rPr>
              <a:t>results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9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85" dirty="0">
                <a:solidFill>
                  <a:srgbClr val="404040"/>
                </a:solidFill>
                <a:latin typeface="Tahoma"/>
                <a:cs typeface="Tahoma"/>
              </a:rPr>
              <a:t>text-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to-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generator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20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55" dirty="0">
                <a:solidFill>
                  <a:srgbClr val="404040"/>
                </a:solidFill>
                <a:latin typeface="Tahoma"/>
                <a:cs typeface="Tahoma"/>
              </a:rPr>
              <a:t>can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vary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based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specific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model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architecture,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training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data,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implementation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details.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Generally,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goal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generate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realistic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based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textual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descriptions.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Successful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outcomes</a:t>
            </a:r>
            <a:r>
              <a:rPr sz="1500" b="1" spc="-9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would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include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generated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images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0" dirty="0">
                <a:solidFill>
                  <a:srgbClr val="404040"/>
                </a:solidFill>
                <a:latin typeface="Tahoma"/>
                <a:cs typeface="Tahoma"/>
              </a:rPr>
              <a:t>that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closely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match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 the 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input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5" dirty="0">
                <a:solidFill>
                  <a:srgbClr val="404040"/>
                </a:solidFill>
                <a:latin typeface="Tahoma"/>
                <a:cs typeface="Tahoma"/>
              </a:rPr>
              <a:t>text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in </a:t>
            </a:r>
            <a:r>
              <a:rPr sz="1500" b="1" spc="-85" dirty="0">
                <a:solidFill>
                  <a:srgbClr val="404040"/>
                </a:solidFill>
                <a:latin typeface="Tahoma"/>
                <a:cs typeface="Tahoma"/>
              </a:rPr>
              <a:t>terms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content,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style,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context.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500" spc="844" dirty="0">
                <a:solidFill>
                  <a:srgbClr val="E78612"/>
                </a:solidFill>
                <a:latin typeface="Microsoft Sans Serif"/>
                <a:cs typeface="Microsoft Sans Serif"/>
              </a:rPr>
              <a:t>🠶</a:t>
            </a:r>
            <a:r>
              <a:rPr sz="1500" dirty="0">
                <a:solidFill>
                  <a:srgbClr val="E78612"/>
                </a:solidFill>
                <a:latin typeface="Microsoft Sans Serif"/>
                <a:cs typeface="Microsoft Sans Serif"/>
              </a:rPr>
              <a:t>	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Overall,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404040"/>
                </a:solidFill>
                <a:latin typeface="Tahoma"/>
                <a:cs typeface="Tahoma"/>
              </a:rPr>
              <a:t>the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5" dirty="0">
                <a:solidFill>
                  <a:srgbClr val="404040"/>
                </a:solidFill>
                <a:latin typeface="Tahoma"/>
                <a:cs typeface="Tahoma"/>
              </a:rPr>
              <a:t>result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of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9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0" dirty="0">
                <a:solidFill>
                  <a:srgbClr val="404040"/>
                </a:solidFill>
                <a:latin typeface="Tahoma"/>
                <a:cs typeface="Tahoma"/>
              </a:rPr>
              <a:t>text-</a:t>
            </a:r>
            <a:r>
              <a:rPr sz="1500" b="1" spc="-75" dirty="0">
                <a:solidFill>
                  <a:srgbClr val="404040"/>
                </a:solidFill>
                <a:latin typeface="Tahoma"/>
                <a:cs typeface="Tahoma"/>
              </a:rPr>
              <a:t>to-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image</a:t>
            </a:r>
            <a:r>
              <a:rPr sz="1500" b="1" spc="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generator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20" dirty="0">
                <a:solidFill>
                  <a:srgbClr val="404040"/>
                </a:solidFill>
                <a:latin typeface="Tahoma"/>
                <a:cs typeface="Tahoma"/>
              </a:rPr>
              <a:t>AI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10" dirty="0">
                <a:solidFill>
                  <a:srgbClr val="404040"/>
                </a:solidFill>
                <a:latin typeface="Tahoma"/>
                <a:cs typeface="Tahoma"/>
              </a:rPr>
              <a:t>is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judged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based</a:t>
            </a:r>
            <a:r>
              <a:rPr sz="15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on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40" dirty="0">
                <a:solidFill>
                  <a:srgbClr val="404040"/>
                </a:solidFill>
                <a:latin typeface="Tahoma"/>
                <a:cs typeface="Tahoma"/>
              </a:rPr>
              <a:t>its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ability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to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90" dirty="0">
                <a:solidFill>
                  <a:srgbClr val="404040"/>
                </a:solidFill>
                <a:latin typeface="Tahoma"/>
                <a:cs typeface="Tahoma"/>
              </a:rPr>
              <a:t>faithfully</a:t>
            </a:r>
            <a:r>
              <a:rPr sz="1500" b="1" spc="-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404040"/>
                </a:solidFill>
                <a:latin typeface="Tahoma"/>
                <a:cs typeface="Tahoma"/>
              </a:rPr>
              <a:t>translate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textual</a:t>
            </a:r>
            <a:endParaRPr sz="1500">
              <a:latin typeface="Tahoma"/>
              <a:cs typeface="Tahoma"/>
            </a:endParaRPr>
          </a:p>
          <a:p>
            <a:pPr marL="354965">
              <a:lnSpc>
                <a:spcPct val="100000"/>
              </a:lnSpc>
            </a:pP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descriptions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404040"/>
                </a:solidFill>
                <a:latin typeface="Tahoma"/>
                <a:cs typeface="Tahoma"/>
              </a:rPr>
              <a:t>into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404040"/>
                </a:solidFill>
                <a:latin typeface="Tahoma"/>
                <a:cs typeface="Tahoma"/>
              </a:rPr>
              <a:t>high-</a:t>
            </a:r>
            <a:r>
              <a:rPr sz="1500" b="1" spc="-40" dirty="0">
                <a:solidFill>
                  <a:srgbClr val="404040"/>
                </a:solidFill>
                <a:latin typeface="Tahoma"/>
                <a:cs typeface="Tahoma"/>
              </a:rPr>
              <a:t>quality</a:t>
            </a:r>
            <a:r>
              <a:rPr sz="15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images,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30" dirty="0">
                <a:solidFill>
                  <a:srgbClr val="404040"/>
                </a:solidFill>
                <a:latin typeface="Tahoma"/>
                <a:cs typeface="Tahoma"/>
              </a:rPr>
              <a:t>with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45" dirty="0">
                <a:solidFill>
                  <a:srgbClr val="404040"/>
                </a:solidFill>
                <a:latin typeface="Tahoma"/>
                <a:cs typeface="Tahoma"/>
              </a:rPr>
              <a:t>realism,</a:t>
            </a:r>
            <a:r>
              <a:rPr sz="1500" b="1" spc="-1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60" dirty="0">
                <a:solidFill>
                  <a:srgbClr val="404040"/>
                </a:solidFill>
                <a:latin typeface="Tahoma"/>
                <a:cs typeface="Tahoma"/>
              </a:rPr>
              <a:t>diversity,</a:t>
            </a:r>
            <a:r>
              <a:rPr sz="15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404040"/>
                </a:solidFill>
                <a:latin typeface="Tahoma"/>
                <a:cs typeface="Tahoma"/>
              </a:rPr>
              <a:t>and</a:t>
            </a:r>
            <a:r>
              <a:rPr sz="15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404040"/>
                </a:solidFill>
                <a:latin typeface="Tahoma"/>
                <a:cs typeface="Tahoma"/>
              </a:rPr>
              <a:t>relevance.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386" rIns="0" bIns="0" rtlCol="0">
            <a:spAutoFit/>
          </a:bodyPr>
          <a:lstStyle/>
          <a:p>
            <a:pPr marL="2566670">
              <a:lnSpc>
                <a:spcPct val="100000"/>
              </a:lnSpc>
              <a:spcBef>
                <a:spcPts val="95"/>
              </a:spcBef>
            </a:pPr>
            <a:r>
              <a:rPr dirty="0"/>
              <a:t>8.</a:t>
            </a:r>
            <a:r>
              <a:rPr spc="-35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923669" y="2263521"/>
            <a:ext cx="8729980" cy="3731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2725" indent="21399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26695" algn="l"/>
              </a:tabLst>
            </a:pPr>
            <a:r>
              <a:rPr spc="-60" dirty="0"/>
              <a:t>**Generative</a:t>
            </a:r>
            <a:r>
              <a:rPr spc="5" dirty="0"/>
              <a:t> </a:t>
            </a:r>
            <a:r>
              <a:rPr spc="-35" dirty="0"/>
              <a:t>Adversarial</a:t>
            </a:r>
            <a:r>
              <a:rPr spc="-30" dirty="0"/>
              <a:t> </a:t>
            </a:r>
            <a:r>
              <a:rPr spc="-110" dirty="0"/>
              <a:t>Text-</a:t>
            </a:r>
            <a:r>
              <a:rPr spc="-75" dirty="0"/>
              <a:t>to-</a:t>
            </a:r>
            <a:r>
              <a:rPr spc="-10" dirty="0"/>
              <a:t>Image</a:t>
            </a:r>
            <a:r>
              <a:rPr spc="20" dirty="0"/>
              <a:t> </a:t>
            </a:r>
            <a:r>
              <a:rPr spc="-90" dirty="0"/>
              <a:t>Synthesis</a:t>
            </a:r>
            <a:r>
              <a:rPr spc="15" dirty="0"/>
              <a:t> </a:t>
            </a:r>
            <a:r>
              <a:rPr spc="-160" dirty="0"/>
              <a:t>(GATIS)**:</a:t>
            </a:r>
            <a:r>
              <a:rPr spc="45" dirty="0"/>
              <a:t> </a:t>
            </a:r>
            <a:r>
              <a:rPr spc="-120" dirty="0"/>
              <a:t>GATIS</a:t>
            </a:r>
            <a:r>
              <a:rPr spc="10" dirty="0"/>
              <a:t> </a:t>
            </a:r>
            <a:r>
              <a:rPr spc="-110" dirty="0"/>
              <a:t>is</a:t>
            </a:r>
            <a:r>
              <a:rPr spc="5" dirty="0"/>
              <a:t> </a:t>
            </a:r>
            <a:r>
              <a:rPr spc="90" dirty="0"/>
              <a:t>a</a:t>
            </a:r>
            <a:r>
              <a:rPr dirty="0"/>
              <a:t> </a:t>
            </a:r>
            <a:r>
              <a:rPr spc="-60" dirty="0"/>
              <a:t>framework</a:t>
            </a:r>
            <a:r>
              <a:rPr spc="-5" dirty="0"/>
              <a:t> </a:t>
            </a:r>
            <a:r>
              <a:rPr spc="-20" dirty="0"/>
              <a:t>that </a:t>
            </a:r>
            <a:r>
              <a:rPr spc="-10" dirty="0"/>
              <a:t>leverages</a:t>
            </a:r>
            <a:r>
              <a:rPr spc="-30" dirty="0"/>
              <a:t> </a:t>
            </a:r>
            <a:r>
              <a:rPr spc="-10" dirty="0"/>
              <a:t>Generative</a:t>
            </a:r>
            <a:r>
              <a:rPr spc="-5" dirty="0"/>
              <a:t> </a:t>
            </a:r>
            <a:r>
              <a:rPr spc="-35" dirty="0"/>
              <a:t>Adversarial</a:t>
            </a:r>
            <a:r>
              <a:rPr spc="-25" dirty="0"/>
              <a:t> </a:t>
            </a:r>
            <a:r>
              <a:rPr spc="-80" dirty="0"/>
              <a:t>Networks</a:t>
            </a:r>
            <a:r>
              <a:rPr spc="5" dirty="0"/>
              <a:t> </a:t>
            </a:r>
            <a:r>
              <a:rPr spc="-20" dirty="0"/>
              <a:t>(GANs)</a:t>
            </a:r>
            <a:r>
              <a:rPr spc="30" dirty="0"/>
              <a:t> </a:t>
            </a:r>
            <a:r>
              <a:rPr spc="-110" dirty="0"/>
              <a:t>for</a:t>
            </a:r>
            <a:r>
              <a:rPr spc="-15" dirty="0"/>
              <a:t> </a:t>
            </a:r>
            <a:r>
              <a:rPr spc="-90" dirty="0"/>
              <a:t>text-</a:t>
            </a:r>
            <a:r>
              <a:rPr spc="-75" dirty="0"/>
              <a:t>to-</a:t>
            </a:r>
            <a:r>
              <a:rPr dirty="0"/>
              <a:t>image</a:t>
            </a:r>
            <a:r>
              <a:rPr spc="10" dirty="0"/>
              <a:t> </a:t>
            </a:r>
            <a:r>
              <a:rPr spc="-80" dirty="0"/>
              <a:t>synthesis.</a:t>
            </a:r>
            <a:r>
              <a:rPr spc="20" dirty="0"/>
              <a:t> </a:t>
            </a:r>
            <a:r>
              <a:rPr spc="-250" dirty="0"/>
              <a:t>It</a:t>
            </a:r>
            <a:r>
              <a:rPr spc="-5" dirty="0"/>
              <a:t> </a:t>
            </a:r>
            <a:r>
              <a:rPr spc="-20" dirty="0"/>
              <a:t>focuses</a:t>
            </a:r>
            <a:r>
              <a:rPr spc="5" dirty="0"/>
              <a:t> </a:t>
            </a:r>
            <a:r>
              <a:rPr spc="-25" dirty="0"/>
              <a:t>on </a:t>
            </a:r>
            <a:r>
              <a:rPr spc="-40" dirty="0"/>
              <a:t>learning</a:t>
            </a:r>
            <a:r>
              <a:rPr spc="-5" dirty="0"/>
              <a:t> </a:t>
            </a:r>
            <a:r>
              <a:rPr spc="90" dirty="0"/>
              <a:t>a</a:t>
            </a:r>
            <a:r>
              <a:rPr spc="5" dirty="0"/>
              <a:t> </a:t>
            </a:r>
            <a:r>
              <a:rPr spc="-95" dirty="0"/>
              <a:t>joint</a:t>
            </a:r>
            <a:r>
              <a:rPr spc="25" dirty="0"/>
              <a:t> </a:t>
            </a:r>
            <a:r>
              <a:rPr dirty="0"/>
              <a:t>embedding</a:t>
            </a:r>
            <a:r>
              <a:rPr spc="-15" dirty="0"/>
              <a:t> </a:t>
            </a:r>
            <a:r>
              <a:rPr dirty="0"/>
              <a:t>space</a:t>
            </a:r>
            <a:r>
              <a:rPr spc="5" dirty="0"/>
              <a:t> </a:t>
            </a:r>
            <a:r>
              <a:rPr spc="-105" dirty="0"/>
              <a:t>for</a:t>
            </a:r>
            <a:r>
              <a:rPr spc="20" dirty="0"/>
              <a:t> </a:t>
            </a:r>
            <a:r>
              <a:rPr spc="-100" dirty="0"/>
              <a:t>text</a:t>
            </a:r>
            <a:r>
              <a:rPr spc="1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images</a:t>
            </a:r>
            <a:r>
              <a:rPr spc="10" dirty="0"/>
              <a:t> </a:t>
            </a:r>
            <a:r>
              <a:rPr spc="-55" dirty="0"/>
              <a:t>to</a:t>
            </a:r>
            <a:r>
              <a:rPr spc="25" dirty="0"/>
              <a:t> </a:t>
            </a:r>
            <a:r>
              <a:rPr spc="-35" dirty="0"/>
              <a:t>facilitate</a:t>
            </a:r>
            <a:r>
              <a:rPr spc="20" dirty="0"/>
              <a:t> </a:t>
            </a:r>
            <a:r>
              <a:rPr spc="-40" dirty="0"/>
              <a:t>cross-</a:t>
            </a:r>
            <a:r>
              <a:rPr dirty="0"/>
              <a:t>modal</a:t>
            </a:r>
            <a:r>
              <a:rPr spc="15" dirty="0"/>
              <a:t> </a:t>
            </a:r>
            <a:r>
              <a:rPr spc="-10" dirty="0"/>
              <a:t>generation.</a:t>
            </a:r>
          </a:p>
          <a:p>
            <a:pPr>
              <a:lnSpc>
                <a:spcPct val="100000"/>
              </a:lnSpc>
              <a:buClr>
                <a:srgbClr val="404040"/>
              </a:buClr>
              <a:buFont typeface="Tahoma"/>
              <a:buAutoNum type="arabicPeriod"/>
            </a:pPr>
            <a:endParaRPr spc="-10" dirty="0"/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404040"/>
              </a:buClr>
              <a:buFont typeface="Tahoma"/>
              <a:buAutoNum type="arabicPeriod"/>
            </a:pPr>
            <a:endParaRPr spc="-10" dirty="0"/>
          </a:p>
          <a:p>
            <a:pPr marL="12700" marR="5080" indent="213995">
              <a:lnSpc>
                <a:spcPct val="100000"/>
              </a:lnSpc>
              <a:buAutoNum type="arabicPeriod"/>
              <a:tabLst>
                <a:tab pos="226695" algn="l"/>
              </a:tabLst>
            </a:pPr>
            <a:r>
              <a:rPr spc="-160" dirty="0"/>
              <a:t>**DALL-</a:t>
            </a:r>
            <a:r>
              <a:rPr spc="-225" dirty="0"/>
              <a:t>E**:</a:t>
            </a:r>
            <a:r>
              <a:rPr spc="20" dirty="0"/>
              <a:t> </a:t>
            </a:r>
            <a:r>
              <a:rPr spc="-85" dirty="0"/>
              <a:t>While</a:t>
            </a:r>
            <a:r>
              <a:rPr spc="15" dirty="0"/>
              <a:t> </a:t>
            </a:r>
            <a:r>
              <a:rPr spc="-75" dirty="0"/>
              <a:t>not</a:t>
            </a:r>
            <a:r>
              <a:rPr spc="10" dirty="0"/>
              <a:t> </a:t>
            </a:r>
            <a:r>
              <a:rPr spc="-90" dirty="0"/>
              <a:t>strictly</a:t>
            </a:r>
            <a:r>
              <a:rPr spc="30" dirty="0"/>
              <a:t> </a:t>
            </a:r>
            <a:r>
              <a:rPr spc="90" dirty="0"/>
              <a:t>a</a:t>
            </a:r>
            <a:r>
              <a:rPr dirty="0"/>
              <a:t> </a:t>
            </a:r>
            <a:r>
              <a:rPr spc="-90" dirty="0"/>
              <a:t>text-</a:t>
            </a:r>
            <a:r>
              <a:rPr spc="-75" dirty="0"/>
              <a:t>to-</a:t>
            </a:r>
            <a:r>
              <a:rPr dirty="0"/>
              <a:t>image</a:t>
            </a:r>
            <a:r>
              <a:rPr spc="25" dirty="0"/>
              <a:t> </a:t>
            </a:r>
            <a:r>
              <a:rPr spc="-40" dirty="0"/>
              <a:t>generator,</a:t>
            </a:r>
            <a:r>
              <a:rPr spc="-15" dirty="0"/>
              <a:t> </a:t>
            </a:r>
            <a:r>
              <a:rPr spc="-100" dirty="0"/>
              <a:t>DALL-</a:t>
            </a:r>
            <a:r>
              <a:rPr spc="-155" dirty="0"/>
              <a:t>E</a:t>
            </a:r>
            <a:r>
              <a:rPr spc="15" dirty="0"/>
              <a:t> </a:t>
            </a:r>
            <a:r>
              <a:rPr spc="-110" dirty="0"/>
              <a:t>is</a:t>
            </a:r>
            <a:r>
              <a:rPr spc="15" dirty="0"/>
              <a:t> </a:t>
            </a:r>
            <a:r>
              <a:rPr spc="90" dirty="0"/>
              <a:t>a</a:t>
            </a:r>
            <a:r>
              <a:rPr spc="5" dirty="0"/>
              <a:t> </a:t>
            </a:r>
            <a:r>
              <a:rPr spc="-10" dirty="0"/>
              <a:t>notable</a:t>
            </a:r>
            <a:r>
              <a:rPr dirty="0"/>
              <a:t> </a:t>
            </a:r>
            <a:r>
              <a:rPr spc="-125" dirty="0"/>
              <a:t>AI</a:t>
            </a:r>
            <a:r>
              <a:rPr spc="15" dirty="0"/>
              <a:t> </a:t>
            </a:r>
            <a:r>
              <a:rPr spc="-10" dirty="0"/>
              <a:t>model </a:t>
            </a:r>
            <a:r>
              <a:rPr dirty="0"/>
              <a:t>developed</a:t>
            </a:r>
            <a:r>
              <a:rPr spc="-2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dirty="0"/>
              <a:t>OpenAI</a:t>
            </a:r>
            <a:r>
              <a:rPr spc="-5" dirty="0"/>
              <a:t> </a:t>
            </a:r>
            <a:r>
              <a:rPr spc="-90" dirty="0"/>
              <a:t>that</a:t>
            </a:r>
            <a:r>
              <a:rPr spc="-10" dirty="0"/>
              <a:t> </a:t>
            </a:r>
            <a:r>
              <a:rPr spc="-20" dirty="0"/>
              <a:t>generates</a:t>
            </a:r>
            <a:r>
              <a:rPr spc="-15" dirty="0"/>
              <a:t> </a:t>
            </a:r>
            <a:r>
              <a:rPr dirty="0"/>
              <a:t>images</a:t>
            </a:r>
            <a:r>
              <a:rPr spc="-15" dirty="0"/>
              <a:t> </a:t>
            </a:r>
            <a:r>
              <a:rPr spc="-80" dirty="0"/>
              <a:t>from</a:t>
            </a:r>
            <a:r>
              <a:rPr spc="-10" dirty="0"/>
              <a:t> </a:t>
            </a:r>
            <a:r>
              <a:rPr spc="-70" dirty="0"/>
              <a:t>textual</a:t>
            </a:r>
            <a:r>
              <a:rPr spc="-5" dirty="0"/>
              <a:t> </a:t>
            </a:r>
            <a:r>
              <a:rPr spc="-50" dirty="0"/>
              <a:t>descriptions.</a:t>
            </a:r>
            <a:r>
              <a:rPr spc="-5" dirty="0"/>
              <a:t> </a:t>
            </a:r>
            <a:r>
              <a:rPr spc="-250" dirty="0"/>
              <a:t>It</a:t>
            </a:r>
            <a:r>
              <a:rPr dirty="0"/>
              <a:t> excels</a:t>
            </a:r>
            <a:r>
              <a:rPr spc="-5" dirty="0"/>
              <a:t> </a:t>
            </a:r>
            <a:r>
              <a:rPr spc="-20" dirty="0"/>
              <a:t>at</a:t>
            </a:r>
            <a:r>
              <a:rPr spc="-25" dirty="0"/>
              <a:t> </a:t>
            </a:r>
            <a:r>
              <a:rPr spc="-10" dirty="0"/>
              <a:t>generating </a:t>
            </a:r>
            <a:r>
              <a:rPr spc="-30" dirty="0"/>
              <a:t>diverse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creative</a:t>
            </a:r>
            <a:r>
              <a:rPr spc="-30" dirty="0"/>
              <a:t> </a:t>
            </a:r>
            <a:r>
              <a:rPr dirty="0"/>
              <a:t>images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4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spc="-70" dirty="0"/>
              <a:t>textual</a:t>
            </a:r>
            <a:r>
              <a:rPr spc="-20" dirty="0"/>
              <a:t> </a:t>
            </a:r>
            <a:r>
              <a:rPr spc="-55" dirty="0"/>
              <a:t>prompts,</a:t>
            </a:r>
            <a:r>
              <a:rPr spc="-20" dirty="0"/>
              <a:t> </a:t>
            </a:r>
            <a:r>
              <a:rPr spc="-55" dirty="0"/>
              <a:t>demonstrating</a:t>
            </a:r>
            <a:r>
              <a:rPr spc="-30" dirty="0"/>
              <a:t> </a:t>
            </a:r>
            <a:r>
              <a:rPr spc="-50" dirty="0"/>
              <a:t>the</a:t>
            </a:r>
            <a:r>
              <a:rPr spc="-15" dirty="0"/>
              <a:t> </a:t>
            </a:r>
            <a:r>
              <a:rPr spc="-45" dirty="0"/>
              <a:t>potential</a:t>
            </a:r>
            <a:r>
              <a:rPr spc="-20" dirty="0"/>
              <a:t> </a:t>
            </a:r>
            <a:r>
              <a:rPr spc="-45" dirty="0"/>
              <a:t>of</a:t>
            </a:r>
            <a:r>
              <a:rPr spc="-20" dirty="0"/>
              <a:t> </a:t>
            </a:r>
            <a:r>
              <a:rPr spc="-120" dirty="0"/>
              <a:t>AI</a:t>
            </a:r>
            <a:r>
              <a:rPr dirty="0"/>
              <a:t> </a:t>
            </a:r>
            <a:r>
              <a:rPr spc="-25" dirty="0"/>
              <a:t>in </a:t>
            </a:r>
            <a:r>
              <a:rPr spc="-10" dirty="0"/>
              <a:t>creative</a:t>
            </a:r>
            <a:r>
              <a:rPr spc="-40" dirty="0"/>
              <a:t> </a:t>
            </a:r>
            <a:r>
              <a:rPr spc="-10" dirty="0"/>
              <a:t>tasks.</a:t>
            </a:r>
            <a:endParaRPr lang="en-US" spc="-10" dirty="0"/>
          </a:p>
          <a:p>
            <a:pPr marL="12700" marR="5080" indent="213995">
              <a:lnSpc>
                <a:spcPct val="100000"/>
              </a:lnSpc>
              <a:buAutoNum type="arabicPeriod"/>
              <a:tabLst>
                <a:tab pos="226695" algn="l"/>
              </a:tabLst>
            </a:pPr>
            <a:endParaRPr lang="en-US" spc="-10" dirty="0"/>
          </a:p>
          <a:p>
            <a:pPr marL="12700" marR="5080" indent="213995">
              <a:lnSpc>
                <a:spcPct val="100000"/>
              </a:lnSpc>
              <a:buAutoNum type="arabicPeriod"/>
              <a:tabLst>
                <a:tab pos="226695" algn="l"/>
              </a:tabLst>
            </a:pPr>
            <a:r>
              <a:rPr lang="en-US" b="1" dirty="0"/>
              <a:t>Stable Diffusion</a:t>
            </a:r>
            <a:r>
              <a:rPr lang="en-US" dirty="0"/>
              <a:t>: Stable Diffusion is a cutting-edge text-to-image generation model that leverages diffusion processes to create high-quality, detailed, and diverse images from textual prompts. Unlike traditional GAN-based approaches, it works by iteratively refining noisy images, guided by textual embeddings. Its open-source nature and ability to run on consumer-grade hardware have made it a significant tool in democratizing AI for creative applications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0057" y="2606421"/>
            <a:ext cx="77501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360" dirty="0">
                <a:latin typeface="Arial"/>
                <a:cs typeface="Arial"/>
              </a:rPr>
              <a:t>Questions</a:t>
            </a:r>
            <a:r>
              <a:rPr sz="6000" b="1" spc="-170" dirty="0">
                <a:latin typeface="Arial"/>
                <a:cs typeface="Arial"/>
              </a:rPr>
              <a:t> </a:t>
            </a:r>
            <a:r>
              <a:rPr sz="6000" b="1" spc="-320" dirty="0">
                <a:latin typeface="Arial"/>
                <a:cs typeface="Arial"/>
              </a:rPr>
              <a:t>and</a:t>
            </a:r>
            <a:r>
              <a:rPr sz="6000" b="1" spc="-180" dirty="0">
                <a:latin typeface="Arial"/>
                <a:cs typeface="Arial"/>
              </a:rPr>
              <a:t> </a:t>
            </a:r>
            <a:r>
              <a:rPr sz="6000" b="1" spc="-340" dirty="0">
                <a:latin typeface="Arial"/>
                <a:cs typeface="Arial"/>
              </a:rPr>
              <a:t>answers</a:t>
            </a:r>
            <a:endParaRPr sz="6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1144" y="2363165"/>
            <a:ext cx="51193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455" dirty="0">
                <a:latin typeface="Verdana"/>
                <a:cs typeface="Verdana"/>
              </a:rPr>
              <a:t>THANK</a:t>
            </a:r>
            <a:r>
              <a:rPr sz="7200" spc="-565" dirty="0">
                <a:latin typeface="Verdana"/>
                <a:cs typeface="Verdana"/>
              </a:rPr>
              <a:t> </a:t>
            </a:r>
            <a:r>
              <a:rPr sz="7200" spc="-25" dirty="0">
                <a:latin typeface="Verdana"/>
                <a:cs typeface="Verdana"/>
              </a:rPr>
              <a:t>YOU</a:t>
            </a:r>
            <a:endParaRPr sz="7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992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Javanese Text</vt:lpstr>
      <vt:lpstr>Microsoft Sans Serif</vt:lpstr>
      <vt:lpstr>Tahoma</vt:lpstr>
      <vt:lpstr>Times New Roman</vt:lpstr>
      <vt:lpstr>Trebuchet MS</vt:lpstr>
      <vt:lpstr>Verdana</vt:lpstr>
      <vt:lpstr>Wingdings 3</vt:lpstr>
      <vt:lpstr>Facet</vt:lpstr>
      <vt:lpstr>TEXT TO IMAGE GENERATOR</vt:lpstr>
      <vt:lpstr>Presentation Outline</vt:lpstr>
      <vt:lpstr>1. PROBLEM STATEMENT</vt:lpstr>
      <vt:lpstr>2. MOTIVATION</vt:lpstr>
      <vt:lpstr>3. OBJECTIVES</vt:lpstr>
      <vt:lpstr>4. METHODOLOGY</vt:lpstr>
      <vt:lpstr>5. Software and Hardware Requirements</vt:lpstr>
      <vt:lpstr>6. Implementation</vt:lpstr>
      <vt:lpstr>7. Results</vt:lpstr>
      <vt:lpstr>8. References</vt:lpstr>
      <vt:lpstr>Questions and answers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TO IMAGE GENERATOR</dc:title>
  <dc:creator>Yogesh Landge</dc:creator>
  <cp:lastModifiedBy>Abhishek Choudhary</cp:lastModifiedBy>
  <cp:revision>4</cp:revision>
  <dcterms:created xsi:type="dcterms:W3CDTF">2024-11-19T13:19:54Z</dcterms:created>
  <dcterms:modified xsi:type="dcterms:W3CDTF">2024-11-19T13:47:55Z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2024-11-19T00:00:00Z</vt:filetime>
  </property>
  <property fmtid="{D5CDD505-2E9C-101B-9397-08002B2CF9AE}" pid="5" name="Producer">
    <vt:lpwstr>Microsoft® PowerPoint® 2021</vt:lpwstr>
  </property>
</Properties>
</file>